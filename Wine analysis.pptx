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2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C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60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5422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939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80962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35103" y="1576388"/>
            <a:ext cx="70737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Wine Quality Analysis</a:t>
            </a:r>
            <a:endParaRPr lang="en-US" sz="4500" dirty="0"/>
          </a:p>
        </p:txBody>
      </p:sp>
      <p:sp>
        <p:nvSpPr>
          <p:cNvPr id="4" name="Text 1"/>
          <p:cNvSpPr/>
          <p:nvPr/>
        </p:nvSpPr>
        <p:spPr>
          <a:xfrm>
            <a:off x="2290226" y="2490788"/>
            <a:ext cx="456339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800" dirty="0" smtClean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Factors’ Impact on Quality of Wine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3979052" y="3367088"/>
            <a:ext cx="11857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15"/>
              </a:lnSpc>
              <a:buNone/>
            </a:pPr>
            <a:r>
              <a:rPr lang="en-US" sz="135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Nishit Malkania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761"/>
            <a:ext cx="7924800" cy="148977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044130"/>
            <a:ext cx="7924800" cy="148977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630561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Overview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2102941"/>
            <a:ext cx="7315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080"/>
              </a:lnSpc>
            </a:pP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The wine dataset includes features like fixed acidity, volatile acidity</a:t>
            </a:r>
            <a:r>
              <a:rPr lang="en-US" sz="1600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,</a:t>
            </a:r>
          </a:p>
          <a:p>
            <a:pPr>
              <a:lnSpc>
                <a:spcPts val="1080"/>
              </a:lnSpc>
            </a:pPr>
            <a:endParaRPr lang="en-US" sz="16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lnSpc>
                <a:spcPts val="1080"/>
              </a:lnSpc>
            </a:pPr>
            <a:r>
              <a:rPr lang="en-US" sz="1600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residual sugar, alcohol, and quality scores ranging from 3 to 8.</a:t>
            </a:r>
            <a:endParaRPr lang="en-US" sz="16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14400" y="3252669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Used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3736923"/>
            <a:ext cx="7315200" cy="632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080"/>
              </a:lnSpc>
            </a:pP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Most frequent quality is 5, appearing as the mode across samples</a:t>
            </a:r>
            <a:r>
              <a:rPr lang="en-US" sz="1600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.</a:t>
            </a:r>
          </a:p>
          <a:p>
            <a:pPr>
              <a:lnSpc>
                <a:spcPts val="1080"/>
              </a:lnSpc>
            </a:pPr>
            <a:r>
              <a:rPr lang="en-US" sz="1600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​</a:t>
            </a: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/>
            </a:r>
            <a:b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</a:b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Data is split into training/testing sets with </a:t>
            </a:r>
            <a:r>
              <a:rPr lang="en-US" sz="1600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StandardScaler</a:t>
            </a: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for preprocessing.</a:t>
            </a:r>
            <a:endParaRPr lang="en-US" sz="16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0"/>
          <p:cNvSpPr/>
          <p:nvPr/>
        </p:nvSpPr>
        <p:spPr>
          <a:xfrm>
            <a:off x="305095" y="1852954"/>
            <a:ext cx="4089924" cy="496809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" name="Text 0"/>
          <p:cNvSpPr/>
          <p:nvPr/>
        </p:nvSpPr>
        <p:spPr>
          <a:xfrm>
            <a:off x="4778773" y="1852954"/>
            <a:ext cx="4089925" cy="496809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240"/>
              </a:lnSpc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Q1: </a:t>
            </a:r>
            <a:r>
              <a:rPr lang="en-US" sz="2800" dirty="0">
                <a:solidFill>
                  <a:schemeClr val="bg1"/>
                </a:solidFill>
              </a:rPr>
              <a:t>Finding the most frequently </a:t>
            </a:r>
            <a:r>
              <a:rPr lang="en-US" sz="2800" dirty="0" err="1">
                <a:solidFill>
                  <a:schemeClr val="bg1"/>
                </a:solidFill>
              </a:rPr>
              <a:t>occuring</a:t>
            </a:r>
            <a:r>
              <a:rPr lang="en-US" sz="2800" dirty="0">
                <a:solidFill>
                  <a:schemeClr val="bg1"/>
                </a:solidFill>
              </a:rPr>
              <a:t>, minimum and maximum quality.</a:t>
            </a:r>
          </a:p>
          <a:p>
            <a:pPr marL="0" indent="0">
              <a:lnSpc>
                <a:spcPts val="3240"/>
              </a:lnSpc>
              <a:buNone/>
            </a:pP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12955" y="2030463"/>
            <a:ext cx="4119716" cy="348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15"/>
              </a:lnSpc>
            </a:pPr>
            <a:r>
              <a:rPr lang="en-US" sz="1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Most </a:t>
            </a:r>
            <a:r>
              <a:rPr lang="en-US" sz="1400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Frequently </a:t>
            </a:r>
            <a:r>
              <a:rPr lang="en-US" sz="1400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Occuring</a:t>
            </a:r>
            <a:r>
              <a:rPr lang="en-US" sz="1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Wine Quality is: </a:t>
            </a:r>
            <a:r>
              <a:rPr lang="en-US" sz="1400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5</a:t>
            </a:r>
            <a:endParaRPr lang="en-US" sz="14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984954" y="2003861"/>
            <a:ext cx="3087329" cy="305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15"/>
              </a:lnSpc>
            </a:pP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Minimum Wine Quality is: </a:t>
            </a:r>
            <a:r>
              <a:rPr lang="en-US" sz="1600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3</a:t>
            </a:r>
            <a:endParaRPr lang="en-US" sz="16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" name="Text 0"/>
          <p:cNvSpPr/>
          <p:nvPr/>
        </p:nvSpPr>
        <p:spPr>
          <a:xfrm>
            <a:off x="2566516" y="2701133"/>
            <a:ext cx="4089925" cy="392695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3"/>
          <p:cNvSpPr/>
          <p:nvPr/>
        </p:nvSpPr>
        <p:spPr>
          <a:xfrm>
            <a:off x="412955" y="3327982"/>
            <a:ext cx="2605548" cy="241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15"/>
              </a:lnSpc>
            </a:pPr>
            <a:endParaRPr lang="en-US" sz="1600" dirty="0">
              <a:latin typeface="Arial Rounded MT Bold" panose="020F0704030504030204" pitchFamily="34" charset="0"/>
            </a:endParaRPr>
          </a:p>
        </p:txBody>
      </p:sp>
      <p:sp>
        <p:nvSpPr>
          <p:cNvPr id="31" name="Rectangle 7"/>
          <p:cNvSpPr>
            <a:spLocks noChangeArrowheads="1"/>
          </p:cNvSpPr>
          <p:nvPr/>
        </p:nvSpPr>
        <p:spPr bwMode="auto">
          <a:xfrm>
            <a:off x="2674374" y="2740806"/>
            <a:ext cx="3706762" cy="556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33327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E3E3E3"/>
                </a:solidFill>
                <a:effectLst/>
                <a:latin typeface="Arial Rounded MT Bold" panose="020F0704030504030204" pitchFamily="34" charset="0"/>
                <a:cs typeface="Courier New" panose="02070309020205020404" pitchFamily="49" charset="0"/>
              </a:rPr>
              <a:t>Maximum Wine Quality is: 8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2" name="Rectangle 8"/>
          <p:cNvSpPr>
            <a:spLocks noChangeArrowheads="1"/>
          </p:cNvSpPr>
          <p:nvPr/>
        </p:nvSpPr>
        <p:spPr bwMode="auto">
          <a:xfrm>
            <a:off x="0" y="457200"/>
            <a:ext cx="8139113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3" name="Rectangle 9"/>
          <p:cNvSpPr>
            <a:spLocks noChangeArrowheads="1"/>
          </p:cNvSpPr>
          <p:nvPr/>
        </p:nvSpPr>
        <p:spPr bwMode="auto">
          <a:xfrm>
            <a:off x="0" y="457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en-US" altLang="en-US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910" y="3501133"/>
            <a:ext cx="6592220" cy="145752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Q2: </a:t>
            </a:r>
            <a:r>
              <a:rPr lang="en-US" sz="2800" dirty="0">
                <a:solidFill>
                  <a:schemeClr val="bg1"/>
                </a:solidFill>
              </a:rPr>
              <a:t>Finding how 'fixed acidity', 'alcohol content' and 'free </a:t>
            </a:r>
            <a:r>
              <a:rPr lang="en-US" sz="2800" dirty="0" err="1">
                <a:solidFill>
                  <a:schemeClr val="bg1"/>
                </a:solidFill>
              </a:rPr>
              <a:t>sulphur</a:t>
            </a:r>
            <a:r>
              <a:rPr lang="en-US" sz="2800" dirty="0">
                <a:solidFill>
                  <a:schemeClr val="bg1"/>
                </a:solidFill>
              </a:rPr>
              <a:t> dioxide' is co-related to quality of the wine</a:t>
            </a:r>
          </a:p>
        </p:txBody>
      </p:sp>
      <p:sp>
        <p:nvSpPr>
          <p:cNvPr id="3" name="Text 1"/>
          <p:cNvSpPr/>
          <p:nvPr/>
        </p:nvSpPr>
        <p:spPr>
          <a:xfrm>
            <a:off x="363794" y="1758895"/>
            <a:ext cx="4847303" cy="2397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 smtClean="0">
                <a:solidFill>
                  <a:srgbClr val="38BDF8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Alcohol Content :</a:t>
            </a:r>
            <a:r>
              <a:rPr lang="en-US" sz="1350" dirty="0" smtClean="0">
                <a:solidFill>
                  <a:srgbClr val="CBD5E1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>
                <a:solidFill>
                  <a:srgbClr val="CBD5E1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Correlation = </a:t>
            </a:r>
            <a:r>
              <a:rPr lang="en-IN" sz="1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0.476166</a:t>
            </a:r>
            <a:r>
              <a:rPr lang="en-US" sz="1350" dirty="0" smtClean="0">
                <a:solidFill>
                  <a:schemeClr val="bg1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     </a:t>
            </a:r>
            <a:r>
              <a:rPr lang="en-US" sz="1350" dirty="0" smtClean="0">
                <a:solidFill>
                  <a:srgbClr val="CBD5E1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   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 smtClean="0">
                <a:solidFill>
                  <a:srgbClr val="CBD5E1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(Positive</a:t>
            </a:r>
            <a:r>
              <a:rPr lang="en-US" sz="1350" dirty="0" smtClean="0">
                <a:solidFill>
                  <a:srgbClr val="CBD5E1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)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endParaRPr lang="en-US" sz="1350" dirty="0">
              <a:latin typeface="Arial Rounded MT Bold" panose="020F0704030504030204" pitchFamily="34" charset="0"/>
            </a:endParaRP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 smtClean="0">
                <a:solidFill>
                  <a:srgbClr val="38BDF8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Free </a:t>
            </a:r>
            <a:r>
              <a:rPr lang="en-US" sz="1350" b="1" dirty="0" err="1" smtClean="0">
                <a:solidFill>
                  <a:srgbClr val="38BDF8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Sulphur</a:t>
            </a:r>
            <a:r>
              <a:rPr lang="en-US" sz="1350" b="1" dirty="0" smtClean="0">
                <a:solidFill>
                  <a:srgbClr val="38BDF8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 Dioxide</a:t>
            </a:r>
            <a:r>
              <a:rPr lang="en-US" sz="1350" b="1" dirty="0" smtClean="0">
                <a:solidFill>
                  <a:srgbClr val="38BDF8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en-US" sz="1350" dirty="0" smtClean="0">
                <a:solidFill>
                  <a:srgbClr val="CBD5E1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>
                <a:solidFill>
                  <a:srgbClr val="CBD5E1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Correlation = </a:t>
            </a:r>
            <a:r>
              <a:rPr lang="en-IN" sz="1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-</a:t>
            </a:r>
            <a:r>
              <a:rPr lang="en-IN" sz="1400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0.50656</a:t>
            </a:r>
            <a:r>
              <a:rPr lang="en-US" sz="1350" dirty="0" smtClean="0">
                <a:solidFill>
                  <a:schemeClr val="bg1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        </a:t>
            </a:r>
            <a:r>
              <a:rPr lang="en-US" sz="1350" dirty="0" smtClean="0">
                <a:solidFill>
                  <a:srgbClr val="CBD5E1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(Negative)</a:t>
            </a:r>
            <a:endParaRPr lang="en-US" sz="1350" dirty="0" smtClean="0">
              <a:solidFill>
                <a:srgbClr val="CBD5E1"/>
              </a:solidFill>
              <a:latin typeface="Arial Rounded MT Bold" panose="020F0704030504030204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endParaRPr lang="en-US" sz="1350" dirty="0">
              <a:latin typeface="Arial Rounded MT Bold" panose="020F0704030504030204" pitchFamily="34" charset="0"/>
            </a:endParaRP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 smtClean="0">
                <a:solidFill>
                  <a:srgbClr val="38BDF8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Fixed Acidity:</a:t>
            </a:r>
            <a:r>
              <a:rPr lang="en-US" sz="1350" dirty="0" smtClean="0">
                <a:solidFill>
                  <a:srgbClr val="CBD5E1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>
                <a:solidFill>
                  <a:srgbClr val="CBD5E1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Correlation = </a:t>
            </a:r>
            <a:r>
              <a:rPr lang="en-US" sz="1350" dirty="0" smtClean="0">
                <a:solidFill>
                  <a:srgbClr val="CBD5E1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0.124052 </a:t>
            </a:r>
            <a:endParaRPr lang="en-US" sz="1350" dirty="0" smtClean="0">
              <a:solidFill>
                <a:srgbClr val="CBD5E1"/>
              </a:solidFill>
              <a:latin typeface="Arial Rounded MT Bold" panose="020F0704030504030204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ts val="2430"/>
              </a:lnSpc>
              <a:buSzPct val="100000"/>
            </a:pPr>
            <a:r>
              <a:rPr lang="en-US" sz="1350" dirty="0" smtClean="0">
                <a:solidFill>
                  <a:srgbClr val="CBD5E1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        (Weak </a:t>
            </a:r>
            <a:r>
              <a:rPr lang="en-US" sz="1350" dirty="0">
                <a:solidFill>
                  <a:srgbClr val="CBD5E1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positive)</a:t>
            </a:r>
            <a:endParaRPr lang="en-US" sz="1350" dirty="0">
              <a:latin typeface="Arial Rounded MT Bold" panose="020F070403050403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5435" y="1611411"/>
            <a:ext cx="3617293" cy="315649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/>
          <p:cNvSpPr/>
          <p:nvPr/>
        </p:nvSpPr>
        <p:spPr>
          <a:xfrm>
            <a:off x="2104253" y="1943443"/>
            <a:ext cx="4384890" cy="927254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240"/>
              </a:lnSpc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Q3: </a:t>
            </a:r>
            <a:r>
              <a:rPr lang="en-US" sz="2800" dirty="0">
                <a:solidFill>
                  <a:schemeClr val="bg1"/>
                </a:solidFill>
              </a:rPr>
              <a:t>Finding out average residual sugar in best quality and worst quality wine</a:t>
            </a:r>
            <a:r>
              <a:rPr lang="en-US" sz="2800" dirty="0" smtClean="0">
                <a:solidFill>
                  <a:schemeClr val="bg1"/>
                </a:solidFill>
              </a:rPr>
              <a:t>.</a:t>
            </a:r>
            <a:endParaRPr lang="en-US" sz="27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2320268" y="2134140"/>
            <a:ext cx="3864077" cy="520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50"/>
              </a:lnSpc>
            </a:pP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Averages are similar (best: 2.58 g/L, worst: 2.64 g/L), suggesting minimal impact on extremes.</a:t>
            </a:r>
            <a:r>
              <a:rPr lang="en-US" sz="1600" dirty="0"/>
              <a:t/>
            </a:r>
            <a:br>
              <a:rPr lang="en-US" sz="1600" dirty="0"/>
            </a:br>
            <a:endParaRPr lang="en-US" sz="1600" dirty="0">
              <a:latin typeface="Arial Rounded MT Bold" panose="020F070403050403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982" y="3458883"/>
            <a:ext cx="6849431" cy="105742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/>
          <p:cNvSpPr/>
          <p:nvPr/>
        </p:nvSpPr>
        <p:spPr>
          <a:xfrm>
            <a:off x="2104253" y="1684152"/>
            <a:ext cx="4384890" cy="1238542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240"/>
              </a:lnSpc>
            </a:pPr>
            <a:r>
              <a:rPr lang="en-US" sz="2700" b="1" dirty="0" smtClean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Q4: </a:t>
            </a:r>
            <a:r>
              <a:rPr lang="en-US" sz="2800" dirty="0">
                <a:solidFill>
                  <a:schemeClr val="bg1"/>
                </a:solidFill>
              </a:rPr>
              <a:t>Affect of </a:t>
            </a:r>
            <a:r>
              <a:rPr lang="en-US" sz="2800" dirty="0" smtClean="0">
                <a:solidFill>
                  <a:schemeClr val="bg1"/>
                </a:solidFill>
              </a:rPr>
              <a:t>Volatile </a:t>
            </a:r>
            <a:r>
              <a:rPr lang="en-US" sz="2800" dirty="0">
                <a:solidFill>
                  <a:schemeClr val="bg1"/>
                </a:solidFill>
              </a:rPr>
              <a:t>Acidity on Quality of the wine.</a:t>
            </a:r>
            <a:endParaRPr lang="en-US" sz="27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2364658" y="1855138"/>
            <a:ext cx="3864077" cy="890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50"/>
              </a:lnSpc>
            </a:pP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Volatile acidity negatively correlates </a:t>
            </a:r>
            <a:endParaRPr lang="en-US" sz="1600" dirty="0" smtClean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lnSpc>
                <a:spcPts val="1350"/>
              </a:lnSpc>
            </a:pPr>
            <a:endParaRPr lang="en-US" sz="16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lnSpc>
                <a:spcPts val="1350"/>
              </a:lnSpc>
            </a:pPr>
            <a:r>
              <a:rPr lang="en-US" sz="1600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with </a:t>
            </a: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quality at -0.39, indicating </a:t>
            </a:r>
            <a:r>
              <a:rPr lang="en-US" sz="1600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higher</a:t>
            </a:r>
          </a:p>
          <a:p>
            <a:pPr>
              <a:lnSpc>
                <a:spcPts val="1350"/>
              </a:lnSpc>
            </a:pPr>
            <a:endParaRPr lang="en-US" sz="16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lnSpc>
                <a:spcPts val="1350"/>
              </a:lnSpc>
            </a:pPr>
            <a:r>
              <a:rPr lang="en-US" sz="1600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acidity </a:t>
            </a: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lowers quality.</a:t>
            </a:r>
            <a:endParaRPr lang="en-US" sz="16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4253" y="3823811"/>
            <a:ext cx="4353533" cy="209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054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Q4: Linear Regression Model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44129" y="1520197"/>
            <a:ext cx="4404853" cy="863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15"/>
              </a:lnSpc>
              <a:buNone/>
            </a:pPr>
            <a:r>
              <a:rPr lang="en-US" sz="1600" dirty="0" smtClean="0">
                <a:solidFill>
                  <a:srgbClr val="CBD5E1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A Decision Tree </a:t>
            </a:r>
            <a:r>
              <a:rPr lang="en-US" sz="1600" dirty="0" smtClean="0">
                <a:solidFill>
                  <a:srgbClr val="CBD5E1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C</a:t>
            </a:r>
            <a:r>
              <a:rPr lang="en-US" sz="1600" dirty="0" smtClean="0">
                <a:solidFill>
                  <a:srgbClr val="CBD5E1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lassifier Model and a </a:t>
            </a:r>
          </a:p>
          <a:p>
            <a:pPr marL="0" indent="0">
              <a:lnSpc>
                <a:spcPts val="1215"/>
              </a:lnSpc>
              <a:buNone/>
            </a:pPr>
            <a:endParaRPr lang="en-US" sz="1600" dirty="0">
              <a:solidFill>
                <a:srgbClr val="CBD5E1"/>
              </a:solidFill>
              <a:latin typeface="Arial Rounded MT Bold" panose="020F0704030504030204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ts val="1215"/>
              </a:lnSpc>
              <a:buNone/>
            </a:pPr>
            <a:r>
              <a:rPr lang="en-US" sz="1600" dirty="0" smtClean="0">
                <a:solidFill>
                  <a:srgbClr val="CBD5E1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Random Forest Classifier Model was trained </a:t>
            </a:r>
          </a:p>
          <a:p>
            <a:pPr marL="0" indent="0">
              <a:lnSpc>
                <a:spcPts val="1215"/>
              </a:lnSpc>
              <a:buNone/>
            </a:pPr>
            <a:endParaRPr lang="en-US" sz="1600" dirty="0">
              <a:solidFill>
                <a:srgbClr val="CBD5E1"/>
              </a:solidFill>
              <a:latin typeface="Arial Rounded MT Bold" panose="020F0704030504030204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ts val="1215"/>
              </a:lnSpc>
              <a:buNone/>
            </a:pPr>
            <a:r>
              <a:rPr lang="en-US" sz="1600" dirty="0" smtClean="0">
                <a:solidFill>
                  <a:srgbClr val="CBD5E1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on the data to find out which one performs </a:t>
            </a:r>
          </a:p>
          <a:p>
            <a:pPr marL="0" indent="0">
              <a:lnSpc>
                <a:spcPts val="1215"/>
              </a:lnSpc>
              <a:buNone/>
            </a:pPr>
            <a:endParaRPr lang="en-US" sz="1600" dirty="0">
              <a:solidFill>
                <a:srgbClr val="CBD5E1"/>
              </a:solidFill>
              <a:latin typeface="Arial Rounded MT Bold" panose="020F0704030504030204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ts val="1215"/>
              </a:lnSpc>
              <a:buNone/>
            </a:pPr>
            <a:r>
              <a:rPr lang="en-US" sz="1600" dirty="0" smtClean="0">
                <a:solidFill>
                  <a:srgbClr val="CBD5E1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the best</a:t>
            </a:r>
            <a:endParaRPr lang="en-US" sz="1600" dirty="0">
              <a:latin typeface="Arial Rounded MT Bold" panose="020F070403050403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44129" y="2866716"/>
            <a:ext cx="4552336" cy="1903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37CBFF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Model accuracy</a:t>
            </a:r>
            <a:r>
              <a:rPr lang="en-US" sz="1600" dirty="0">
                <a:solidFill>
                  <a:srgbClr val="CBD5E1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: R² score indicates </a:t>
            </a:r>
            <a:endParaRPr lang="en-US" sz="1600" dirty="0" smtClean="0">
              <a:solidFill>
                <a:srgbClr val="CBD5E1"/>
              </a:solidFill>
              <a:latin typeface="Arial Rounded MT Bold" panose="020F0704030504030204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ts val="2430"/>
              </a:lnSpc>
              <a:buSzPct val="100000"/>
            </a:pPr>
            <a:r>
              <a:rPr lang="en-US" sz="1600" dirty="0">
                <a:solidFill>
                  <a:srgbClr val="CBD5E1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smtClean="0">
                <a:solidFill>
                  <a:srgbClr val="CBD5E1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      good </a:t>
            </a:r>
            <a:r>
              <a:rPr lang="en-US" sz="1600" dirty="0">
                <a:solidFill>
                  <a:srgbClr val="CBD5E1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fit</a:t>
            </a:r>
            <a:endParaRPr lang="en-US" sz="1600" dirty="0">
              <a:latin typeface="Arial Rounded MT Bold" panose="020F0704030504030204" pitchFamily="34" charset="0"/>
            </a:endParaRP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Predictions visualized against actual values</a:t>
            </a:r>
            <a:endParaRPr lang="en-US" sz="1600" dirty="0">
              <a:latin typeface="Arial Rounded MT Bold" panose="020F0704030504030204" pitchFamily="34" charset="0"/>
            </a:endParaRP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 smtClean="0">
                <a:solidFill>
                  <a:srgbClr val="CBD5E1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Confusio</a:t>
            </a:r>
            <a:r>
              <a:rPr lang="en-US" sz="1600" dirty="0" smtClean="0">
                <a:solidFill>
                  <a:srgbClr val="CBD5E1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n Matrix was also visualized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1850" y="1237713"/>
            <a:ext cx="3839111" cy="32580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Q5: Sales Prediction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15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advertising expenditure of: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01986"/>
            <a:ext cx="7620000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TV: $200K, Radio: $40K, Newspaper: $50K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2062907"/>
            <a:ext cx="808329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5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 Sales: Calculated using the trained linear regression model</a:t>
            </a:r>
            <a:endParaRPr lang="en-US" sz="15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592" t="9069" r="-592"/>
          <a:stretch/>
        </p:blipFill>
        <p:spPr>
          <a:xfrm>
            <a:off x="2797128" y="3220507"/>
            <a:ext cx="3319148" cy="36379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 smtClean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and Final Insights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15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</a:t>
            </a:r>
            <a:r>
              <a:rPr lang="en-US" sz="1350" dirty="0" smtClean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the models were compared, we found out: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78186"/>
            <a:ext cx="7620000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 smtClean="0">
                <a:solidFill>
                  <a:schemeClr val="bg1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Random Forest is better than Decisio</a:t>
            </a:r>
            <a:r>
              <a:rPr lang="en-US" sz="1350" dirty="0" smtClean="0">
                <a:solidFill>
                  <a:schemeClr val="bg1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n Tree</a:t>
            </a:r>
            <a:endParaRPr lang="en-US" sz="135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Alcohol and </a:t>
            </a:r>
            <a:r>
              <a:rPr lang="en-US" sz="1400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sulphates</a:t>
            </a:r>
            <a:r>
              <a:rPr lang="en-US" sz="1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positively influence quality; volatile acidity harms </a:t>
            </a:r>
            <a:r>
              <a:rPr lang="en-US" sz="1400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it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Random Forest (71.9% accuracy) is superior for this classification </a:t>
            </a:r>
            <a:r>
              <a:rPr lang="en-US" sz="1400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task.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400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Residual </a:t>
            </a:r>
            <a:r>
              <a:rPr lang="en-US" sz="1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sugar shows negligible difference between best/worst wines.</a:t>
            </a:r>
          </a:p>
          <a:p>
            <a:r>
              <a:rPr lang="en-US" sz="1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/>
            </a:r>
            <a:br>
              <a:rPr lang="en-US" sz="1400" dirty="0">
                <a:solidFill>
                  <a:schemeClr val="bg1"/>
                </a:solidFill>
                <a:latin typeface="Arial Rounded MT Bold" panose="020F0704030504030204" pitchFamily="34" charset="0"/>
              </a:rPr>
            </a:br>
            <a:endParaRPr lang="en-US" sz="135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9213" y="3444025"/>
            <a:ext cx="4401833" cy="89200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4014" y="2073622"/>
            <a:ext cx="2495973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358</Words>
  <Application>Microsoft Office PowerPoint</Application>
  <PresentationFormat>On-screen Show (16:9)</PresentationFormat>
  <Paragraphs>66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Rounded MT Bold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Microsoft account</cp:lastModifiedBy>
  <cp:revision>8</cp:revision>
  <dcterms:created xsi:type="dcterms:W3CDTF">2026-03-17T18:37:09Z</dcterms:created>
  <dcterms:modified xsi:type="dcterms:W3CDTF">2026-03-18T18:29:32Z</dcterms:modified>
</cp:coreProperties>
</file>